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26"/>
  </p:notesMasterIdLst>
  <p:handoutMasterIdLst>
    <p:handoutMasterId r:id="rId27"/>
  </p:handoutMasterIdLst>
  <p:sldIdLst>
    <p:sldId id="709" r:id="rId5"/>
    <p:sldId id="694" r:id="rId6"/>
    <p:sldId id="692" r:id="rId7"/>
    <p:sldId id="693" r:id="rId8"/>
    <p:sldId id="695" r:id="rId9"/>
    <p:sldId id="696" r:id="rId10"/>
    <p:sldId id="719" r:id="rId11"/>
    <p:sldId id="712" r:id="rId12"/>
    <p:sldId id="711" r:id="rId13"/>
    <p:sldId id="698" r:id="rId14"/>
    <p:sldId id="713" r:id="rId15"/>
    <p:sldId id="714" r:id="rId16"/>
    <p:sldId id="699" r:id="rId17"/>
    <p:sldId id="715" r:id="rId18"/>
    <p:sldId id="717" r:id="rId19"/>
    <p:sldId id="718" r:id="rId20"/>
    <p:sldId id="703" r:id="rId21"/>
    <p:sldId id="705" r:id="rId22"/>
    <p:sldId id="704" r:id="rId23"/>
    <p:sldId id="707" r:id="rId24"/>
    <p:sldId id="721" r:id="rId2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884" autoAdjust="0"/>
  </p:normalViewPr>
  <p:slideViewPr>
    <p:cSldViewPr snapToGrid="0">
      <p:cViewPr varScale="1">
        <p:scale>
          <a:sx n="154" d="100"/>
          <a:sy n="154" d="100"/>
        </p:scale>
        <p:origin x="1812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hwab Janis" userId="7c02f9c5-299d-4e38-8e54-e13c1b5b7bc6" providerId="ADAL" clId="{B8297428-0415-4C05-A069-912F30006569}"/>
    <pc:docChg chg="custSel modSld">
      <pc:chgData name="Schwab Janis" userId="7c02f9c5-299d-4e38-8e54-e13c1b5b7bc6" providerId="ADAL" clId="{B8297428-0415-4C05-A069-912F30006569}" dt="2025-05-26T09:20:49.859" v="1" actId="26606"/>
      <pc:docMkLst>
        <pc:docMk/>
      </pc:docMkLst>
      <pc:sldChg chg="addSp modSp mod setBg">
        <pc:chgData name="Schwab Janis" userId="7c02f9c5-299d-4e38-8e54-e13c1b5b7bc6" providerId="ADAL" clId="{B8297428-0415-4C05-A069-912F30006569}" dt="2025-05-26T09:20:49.859" v="1" actId="26606"/>
        <pc:sldMkLst>
          <pc:docMk/>
          <pc:sldMk cId="1402553388" sldId="707"/>
        </pc:sldMkLst>
        <pc:spChg chg="mod">
          <ac:chgData name="Schwab Janis" userId="7c02f9c5-299d-4e38-8e54-e13c1b5b7bc6" providerId="ADAL" clId="{B8297428-0415-4C05-A069-912F30006569}" dt="2025-05-26T09:20:49.859" v="1" actId="26606"/>
          <ac:spMkLst>
            <pc:docMk/>
            <pc:sldMk cId="1402553388" sldId="707"/>
            <ac:spMk id="2" creationId="{CFFB864D-8FB8-9673-D204-38D1243676EB}"/>
          </ac:spMkLst>
        </pc:spChg>
        <pc:spChg chg="mod">
          <ac:chgData name="Schwab Janis" userId="7c02f9c5-299d-4e38-8e54-e13c1b5b7bc6" providerId="ADAL" clId="{B8297428-0415-4C05-A069-912F30006569}" dt="2025-05-26T09:20:49.859" v="1" actId="26606"/>
          <ac:spMkLst>
            <pc:docMk/>
            <pc:sldMk cId="1402553388" sldId="707"/>
            <ac:spMk id="3" creationId="{0505533C-A958-F95D-F8AB-4D5D29BAFA1F}"/>
          </ac:spMkLst>
        </pc:spChg>
        <pc:spChg chg="mod">
          <ac:chgData name="Schwab Janis" userId="7c02f9c5-299d-4e38-8e54-e13c1b5b7bc6" providerId="ADAL" clId="{B8297428-0415-4C05-A069-912F30006569}" dt="2025-05-26T09:20:49.859" v="1" actId="26606"/>
          <ac:spMkLst>
            <pc:docMk/>
            <pc:sldMk cId="1402553388" sldId="707"/>
            <ac:spMk id="4" creationId="{A50B6283-E94C-6A86-C214-BB510BDF57FD}"/>
          </ac:spMkLst>
        </pc:spChg>
        <pc:spChg chg="mod ord">
          <ac:chgData name="Schwab Janis" userId="7c02f9c5-299d-4e38-8e54-e13c1b5b7bc6" providerId="ADAL" clId="{B8297428-0415-4C05-A069-912F30006569}" dt="2025-05-26T09:20:49.859" v="1" actId="26606"/>
          <ac:spMkLst>
            <pc:docMk/>
            <pc:sldMk cId="1402553388" sldId="707"/>
            <ac:spMk id="5" creationId="{DBD0E327-A764-B562-F8C5-C00C9EDFBAC1}"/>
          </ac:spMkLst>
        </pc:spChg>
        <pc:spChg chg="mod ord">
          <ac:chgData name="Schwab Janis" userId="7c02f9c5-299d-4e38-8e54-e13c1b5b7bc6" providerId="ADAL" clId="{B8297428-0415-4C05-A069-912F30006569}" dt="2025-05-26T09:20:49.859" v="1" actId="26606"/>
          <ac:spMkLst>
            <pc:docMk/>
            <pc:sldMk cId="1402553388" sldId="707"/>
            <ac:spMk id="6" creationId="{F0ADBC75-3DC9-618D-7AA6-597D9D8E5B1A}"/>
          </ac:spMkLst>
        </pc:spChg>
        <pc:spChg chg="add">
          <ac:chgData name="Schwab Janis" userId="7c02f9c5-299d-4e38-8e54-e13c1b5b7bc6" providerId="ADAL" clId="{B8297428-0415-4C05-A069-912F30006569}" dt="2025-05-26T09:20:49.859" v="1" actId="26606"/>
          <ac:spMkLst>
            <pc:docMk/>
            <pc:sldMk cId="1402553388" sldId="707"/>
            <ac:spMk id="13" creationId="{F13C74B1-5B17-4795-BED0-7140497B445A}"/>
          </ac:spMkLst>
        </pc:spChg>
        <pc:spChg chg="add">
          <ac:chgData name="Schwab Janis" userId="7c02f9c5-299d-4e38-8e54-e13c1b5b7bc6" providerId="ADAL" clId="{B8297428-0415-4C05-A069-912F30006569}" dt="2025-05-26T09:20:49.859" v="1" actId="26606"/>
          <ac:spMkLst>
            <pc:docMk/>
            <pc:sldMk cId="1402553388" sldId="707"/>
            <ac:spMk id="15" creationId="{D4974D33-8DC5-464E-8C6D-BE58F0669C17}"/>
          </ac:spMkLst>
        </pc:spChg>
        <pc:picChg chg="add mod">
          <ac:chgData name="Schwab Janis" userId="7c02f9c5-299d-4e38-8e54-e13c1b5b7bc6" providerId="ADAL" clId="{B8297428-0415-4C05-A069-912F30006569}" dt="2025-05-26T09:20:49.859" v="1" actId="26606"/>
          <ac:picMkLst>
            <pc:docMk/>
            <pc:sldMk cId="1402553388" sldId="707"/>
            <ac:picMk id="8" creationId="{0E58F0FF-762E-69AB-CAA9-B360B70E651F}"/>
          </ac:picMkLst>
        </pc:picChg>
      </pc:sldChg>
    </pc:docChg>
  </pc:docChgLst>
  <pc:docChgLst>
    <pc:chgData name="Schwab Janis" userId="7c02f9c5-299d-4e38-8e54-e13c1b5b7bc6" providerId="ADAL" clId="{2F6CA155-1FFE-474F-8DF8-8B9235C957EC}"/>
    <pc:docChg chg="custSel addSld delSld modSld">
      <pc:chgData name="Schwab Janis" userId="7c02f9c5-299d-4e38-8e54-e13c1b5b7bc6" providerId="ADAL" clId="{2F6CA155-1FFE-474F-8DF8-8B9235C957EC}" dt="2025-05-02T10:59:39.917" v="107" actId="1036"/>
      <pc:docMkLst>
        <pc:docMk/>
      </pc:docMkLst>
      <pc:sldChg chg="new del">
        <pc:chgData name="Schwab Janis" userId="7c02f9c5-299d-4e38-8e54-e13c1b5b7bc6" providerId="ADAL" clId="{2F6CA155-1FFE-474F-8DF8-8B9235C957EC}" dt="2025-05-02T10:57:54.209" v="2" actId="47"/>
        <pc:sldMkLst>
          <pc:docMk/>
          <pc:sldMk cId="905449839" sldId="720"/>
        </pc:sldMkLst>
      </pc:sldChg>
      <pc:sldChg chg="addSp delSp modSp add mod">
        <pc:chgData name="Schwab Janis" userId="7c02f9c5-299d-4e38-8e54-e13c1b5b7bc6" providerId="ADAL" clId="{2F6CA155-1FFE-474F-8DF8-8B9235C957EC}" dt="2025-05-02T10:59:39.917" v="107" actId="1036"/>
        <pc:sldMkLst>
          <pc:docMk/>
          <pc:sldMk cId="1028636946" sldId="721"/>
        </pc:sldMkLst>
        <pc:spChg chg="mod">
          <ac:chgData name="Schwab Janis" userId="7c02f9c5-299d-4e38-8e54-e13c1b5b7bc6" providerId="ADAL" clId="{2F6CA155-1FFE-474F-8DF8-8B9235C957EC}" dt="2025-05-02T10:57:59.662" v="18" actId="20577"/>
          <ac:spMkLst>
            <pc:docMk/>
            <pc:sldMk cId="1028636946" sldId="721"/>
            <ac:spMk id="2" creationId="{31B135C6-80A8-9D10-49E1-C784E831D780}"/>
          </ac:spMkLst>
        </pc:spChg>
        <pc:picChg chg="add mod">
          <ac:chgData name="Schwab Janis" userId="7c02f9c5-299d-4e38-8e54-e13c1b5b7bc6" providerId="ADAL" clId="{2F6CA155-1FFE-474F-8DF8-8B9235C957EC}" dt="2025-05-02T10:59:39.917" v="107" actId="1036"/>
          <ac:picMkLst>
            <pc:docMk/>
            <pc:sldMk cId="1028636946" sldId="721"/>
            <ac:picMk id="8" creationId="{A10B1626-09D3-7328-D3B3-D10C1576DB89}"/>
          </ac:picMkLst>
        </pc:picChg>
        <pc:picChg chg="add mod">
          <ac:chgData name="Schwab Janis" userId="7c02f9c5-299d-4e38-8e54-e13c1b5b7bc6" providerId="ADAL" clId="{2F6CA155-1FFE-474F-8DF8-8B9235C957EC}" dt="2025-05-02T10:59:34.561" v="86" actId="1035"/>
          <ac:picMkLst>
            <pc:docMk/>
            <pc:sldMk cId="1028636946" sldId="721"/>
            <ac:picMk id="12" creationId="{BACC750E-6C90-80F3-F10D-0006D2A8378A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C7F5F705-CDC4-4C64-8F78-CD756DC7430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19B209C-A071-41E3-B281-7B2A604E1BC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D00214-E36C-42EE-B3E2-99167DB1983F}" type="datetimeFigureOut">
              <a:rPr lang="de-CH" smtClean="0"/>
              <a:t>26.05.2025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20CEFF2-49A6-4207-A62D-5CE572829BE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2A76C09-B2BA-4142-89A5-DC77CE76FDA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47F521-A6BF-464A-865E-BEE24F56DC0F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630536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340686-8256-4814-B33E-B07049EA7506}" type="datetimeFigureOut">
              <a:rPr lang="de-CH" smtClean="0"/>
              <a:t>26.05.2025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13CF7B-22E8-49E9-91C3-02AD7933735D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1575349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Calibri"/>
              <a:buChar char="-"/>
            </a:pPr>
            <a:r>
              <a:rPr lang="de-DE" dirty="0">
                <a:cs typeface="Calibri" panose="020F0502020204030204"/>
              </a:rPr>
              <a:t>Merci fürs Kommen</a:t>
            </a:r>
          </a:p>
          <a:p>
            <a:pPr marL="171450" indent="-171450">
              <a:buFont typeface="Calibri"/>
              <a:buChar char="-"/>
            </a:pPr>
            <a:r>
              <a:rPr lang="de-DE" dirty="0">
                <a:ea typeface="Calibri"/>
                <a:cs typeface="Calibri" panose="020F0502020204030204"/>
              </a:rPr>
              <a:t>Danke für euren Einsatz generell im Kifu</a:t>
            </a:r>
          </a:p>
          <a:p>
            <a:pPr marL="171450" indent="-171450">
              <a:buFont typeface="Calibri"/>
              <a:buChar char="-"/>
            </a:pPr>
            <a:r>
              <a:rPr lang="de-DE" dirty="0">
                <a:ea typeface="Calibri"/>
                <a:cs typeface="Calibri" panose="020F0502020204030204"/>
              </a:rPr>
              <a:t>KIFU-Abteilung ist die wichtigste Abteilung im Verein, da es die 1. Begegnung der Kindern und Eltern im Verein ist.</a:t>
            </a:r>
          </a:p>
          <a:p>
            <a:pPr marL="171450" indent="-171450">
              <a:buFont typeface="Calibri"/>
              <a:buChar char="-"/>
            </a:pPr>
            <a:r>
              <a:rPr lang="de-DE" dirty="0">
                <a:ea typeface="Calibri"/>
                <a:cs typeface="Calibri" panose="020F0502020204030204"/>
              </a:rPr>
              <a:t>Daher ist es uns so wichtig und daher möchten wir das Kifu-Mentoring machen</a:t>
            </a:r>
          </a:p>
        </p:txBody>
      </p:sp>
    </p:spTree>
    <p:extLst>
      <p:ext uri="{BB962C8B-B14F-4D97-AF65-F5344CB8AC3E}">
        <p14:creationId xmlns:p14="http://schemas.microsoft.com/office/powerpoint/2010/main" val="31682579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13CF7B-22E8-49E9-91C3-02AD7933735D}" type="slidenum">
              <a:rPr lang="de-CH" smtClean="0"/>
              <a:t>9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064332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Bild 5" descr="vorlage_powerpoint.jpg">
            <a:extLst>
              <a:ext uri="{FF2B5EF4-FFF2-40B4-BE49-F238E27FC236}">
                <a16:creationId xmlns:a16="http://schemas.microsoft.com/office/drawing/2014/main" id="{16CFDE06-6371-424E-BFE8-195DD170E5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4437" r="56500"/>
          <a:stretch/>
        </p:blipFill>
        <p:spPr>
          <a:xfrm>
            <a:off x="0" y="3777257"/>
            <a:ext cx="3976505" cy="3080743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212DA1EA-D1B6-4623-850A-BFF38F0D6C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3789" y="2207108"/>
            <a:ext cx="9304421" cy="108218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344725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048D40-7095-440D-99A5-5D3250B3A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76979BD-B79F-402B-B251-8F774431BF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DDB7324-2E23-4D78-9C6A-3534DBE78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Datum der Präsentation</a:t>
            </a:r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9958467-ADFD-4785-ACE8-147A1422B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AB213-EF28-49F9-86B8-431E92A3F2A7}" type="slidenum">
              <a:rPr lang="de-CH" smtClean="0"/>
              <a:t>‹Nr.›</a:t>
            </a:fld>
            <a:endParaRPr lang="de-CH"/>
          </a:p>
        </p:txBody>
      </p:sp>
      <p:sp>
        <p:nvSpPr>
          <p:cNvPr id="11" name="Fußzeilenplatzhalter 4">
            <a:extLst>
              <a:ext uri="{FF2B5EF4-FFF2-40B4-BE49-F238E27FC236}">
                <a16:creationId xmlns:a16="http://schemas.microsoft.com/office/drawing/2014/main" id="{57955736-CB14-420F-B348-42EAD6162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de-CH"/>
              <a:t>Titel der Präsentation</a:t>
            </a:r>
          </a:p>
        </p:txBody>
      </p:sp>
    </p:spTree>
    <p:extLst>
      <p:ext uri="{BB962C8B-B14F-4D97-AF65-F5344CB8AC3E}">
        <p14:creationId xmlns:p14="http://schemas.microsoft.com/office/powerpoint/2010/main" val="1782142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FF4CF2-2B18-44ED-A8FF-05146E8FB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789ACBA-2446-4997-81D6-3871BD6A89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AD01D7E-DCBB-4067-B84A-C2EAB0645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Datum der Präsentation</a:t>
            </a:r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CEA89BC-7357-4A0F-9A49-ABD760428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Titel der Präsentation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6856800-D857-417E-96F5-A9B8EABD3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AB213-EF28-49F9-86B8-431E92A3F2A7}" type="slidenum">
              <a:rPr lang="de-CH" smtClean="0"/>
              <a:t>‹Nr.›</a:t>
            </a:fld>
            <a:endParaRPr lang="de-CH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CE7DCA57-EFE3-4ED4-9323-788B847FB1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66853" y="333041"/>
            <a:ext cx="2088000" cy="720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457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D9D224-86BC-4979-854B-8C2F402B8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CD72997-CF0D-46A2-A1CB-3AFD9BF00A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272EC52-A097-4D4B-95E1-417CDE56D6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2F8AD80-709B-40A2-8D21-2BFDD292B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Datum der Präsentation</a:t>
            </a:r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DCDA570-4100-4CB8-A786-6F0A2D83E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Titel der Präsentation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EA3EC0F-94DC-425E-9605-A7A0A2DF7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AB213-EF28-49F9-86B8-431E92A3F2A7}" type="slidenum">
              <a:rPr lang="de-CH" smtClean="0"/>
              <a:t>‹Nr.›</a:t>
            </a:fld>
            <a:endParaRPr lang="de-CH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A07766BB-02E6-4E0B-932A-CBA1F6E462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66853" y="333041"/>
            <a:ext cx="2088000" cy="720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006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34E980-FA85-4E02-BB5B-443E3DDE0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C10A9FA-958C-4A60-85B3-1BFDE48E24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866B37B-6336-46B5-BDE5-E775863258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3E21AD4-211E-43BE-8C2E-E95658151C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592BB67-C160-4142-A9CA-60FFF315C1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112785E-81F9-4238-B769-9051A2B24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Datum der Präsentation</a:t>
            </a:r>
            <a:endParaRPr lang="de-CH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870C5FB2-4496-4340-8C31-33A91B38C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Titel der Präsentation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B56E21E9-2ACC-484E-A57F-15C69D755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AB213-EF28-49F9-86B8-431E92A3F2A7}" type="slidenum">
              <a:rPr lang="de-CH" smtClean="0"/>
              <a:t>‹Nr.›</a:t>
            </a:fld>
            <a:endParaRPr lang="de-CH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F8AB7660-EF45-4521-9FBF-FB006BECE85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66853" y="333041"/>
            <a:ext cx="2088000" cy="720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438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180F89-DB5B-4F76-A535-E74ECF8AA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D5B3479-2DD6-4523-A413-807E1CBBE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Datum der Präsentation</a:t>
            </a:r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53FDEF3-AE9C-4540-A05A-4F397F759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Titel der Präsentation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0C2ED64-D4B5-4692-A907-94EAE40E6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AB213-EF28-49F9-86B8-431E92A3F2A7}" type="slidenum">
              <a:rPr lang="de-CH" smtClean="0"/>
              <a:t>‹Nr.›</a:t>
            </a:fld>
            <a:endParaRPr lang="de-CH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4AA7E848-B082-45F2-8C6B-7840CD78F6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66853" y="333041"/>
            <a:ext cx="2088000" cy="720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641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0C6DF82-4666-4D18-B06B-DAD8D910B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Datum der Präsentation</a:t>
            </a:r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AC06531-1942-4262-B08E-58B53FB51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Titel der Präsentation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7A1C064-D9B8-4163-B53D-9BAF32239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AB213-EF28-49F9-86B8-431E92A3F2A7}" type="slidenum">
              <a:rPr lang="de-CH" smtClean="0"/>
              <a:t>‹Nr.›</a:t>
            </a:fld>
            <a:endParaRPr lang="de-CH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6E639A3B-AB7A-4BF7-9968-D1A90122960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66853" y="333041"/>
            <a:ext cx="2088000" cy="720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210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EAD33E-0FC4-417A-9AEE-2E26B2ACB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89129E3-DA2B-4F3D-957F-7230A187E3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224C244-56C8-49FC-B037-F4CA405EFE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4B80578-E44A-452B-BC44-62A0C3A9F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Datum der Präsentation</a:t>
            </a:r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E6C6257-21FD-45CF-B91D-6A7693548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Titel der Präsentation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B0D16CF-DA29-4E5E-B829-8F9BEF690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AB213-EF28-49F9-86B8-431E92A3F2A7}" type="slidenum">
              <a:rPr lang="de-CH" smtClean="0"/>
              <a:t>‹Nr.›</a:t>
            </a:fld>
            <a:endParaRPr lang="de-CH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A5A14D2-FFD7-454C-8226-C1ACED78BAB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66853" y="333041"/>
            <a:ext cx="2088000" cy="720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848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3F87C8-99D8-45D6-A29A-0878EE576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CCDE3F23-12B1-45B6-949E-71E0DB714B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9311385-8304-49BC-83D3-B6D3E66031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209C2B6-17AE-463E-BB59-37AD035DC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Datum der Präsentation</a:t>
            </a:r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79092AB-7216-4909-AB0D-16B3C490D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Titel der Präsentation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0C0FA00-B246-4F0C-8FA0-B71B9EBE4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AB213-EF28-49F9-86B8-431E92A3F2A7}" type="slidenum">
              <a:rPr lang="de-CH" smtClean="0"/>
              <a:t>‹Nr.›</a:t>
            </a:fld>
            <a:endParaRPr lang="de-CH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77EF26AB-B3AB-4B23-AABB-D2664D9C3F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66853" y="333041"/>
            <a:ext cx="2088000" cy="720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38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B13318-31E0-4E07-8733-26300C1AF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B0D37D1-F81A-4FE1-B33F-520970D1BF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214FB03-6AC8-4140-A84D-BA7F22F02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Datum der Präsentation</a:t>
            </a:r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AACBBF3-137F-4F5B-941F-E03E52E17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Titel der Präsentation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57E1607-7617-484D-AA5E-6079D60AA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AB213-EF28-49F9-86B8-431E92A3F2A7}" type="slidenum">
              <a:rPr lang="de-CH" smtClean="0"/>
              <a:t>‹Nr.›</a:t>
            </a:fld>
            <a:endParaRPr lang="de-CH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55A379D5-10F5-4D45-864C-A45BA06B860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66853" y="333041"/>
            <a:ext cx="2088000" cy="720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183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2E8EA63-1831-42F7-BAEF-2A96B024BA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7577289-2094-47B3-8FB9-0997ED0BCF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A35CA7A-768E-42AC-B712-C178094BE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Datum der Präsentation</a:t>
            </a:r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E612F6D-35F9-41ED-88B7-53FB52870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Titel der Präsentation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F8C70F6-39C3-4BA7-AA63-160C1A51E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AB213-EF28-49F9-86B8-431E92A3F2A7}" type="slidenum">
              <a:rPr lang="de-CH" smtClean="0"/>
              <a:t>‹Nr.›</a:t>
            </a:fld>
            <a:endParaRPr lang="de-CH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A53FE96D-76EC-434D-A7C5-0195CEBAB8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66853" y="333041"/>
            <a:ext cx="2088000" cy="720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990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EE9B0F6-865A-4E20-9762-1DAB7F178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817860E-F32C-4798-AE05-72C5521323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5EB5A83-E7EB-4CFA-BE48-E526541A8D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Datum der Präsentation</a:t>
            </a:r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2A14048-EEC2-462B-BB10-27A7F96755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CH"/>
              <a:t>Titel der Präsentation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91963A0-4BC2-4CF2-B2C9-5A77A29039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6AB213-EF28-49F9-86B8-431E92A3F2A7}" type="slidenum">
              <a:rPr lang="de-CH" smtClean="0"/>
              <a:t>‹Nr.›</a:t>
            </a:fld>
            <a:endParaRPr lang="de-CH"/>
          </a:p>
        </p:txBody>
      </p:sp>
      <p:pic>
        <p:nvPicPr>
          <p:cNvPr id="9" name="Grafik 8" descr="Ein Bild, das Grafiken, Schrift, rot, Design enthält.&#10;&#10;Automatisch generierte Beschreibung">
            <a:extLst>
              <a:ext uri="{FF2B5EF4-FFF2-40B4-BE49-F238E27FC236}">
                <a16:creationId xmlns:a16="http://schemas.microsoft.com/office/drawing/2014/main" id="{40F7302B-5DC4-BD70-04E8-79E9036C1FC5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9404" y="58198"/>
            <a:ext cx="2743200" cy="1245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581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basposhop.ch/produkt/fussball-manual-kinder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D14D66-FE84-483B-A59B-1F07C0E97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CH" dirty="0">
                <a:ea typeface="Calibri Light"/>
                <a:cs typeface="Calibri Light"/>
              </a:rPr>
              <a:t>VORBEREITUNGEN</a:t>
            </a:r>
            <a:br>
              <a:rPr lang="de-CH" sz="2800" dirty="0"/>
            </a:br>
            <a:r>
              <a:rPr lang="de-CH" dirty="0">
                <a:ea typeface="Calibri Light"/>
                <a:cs typeface="Calibri Light"/>
              </a:rPr>
              <a:t>für Mentoring-Abend im Verein</a:t>
            </a:r>
            <a:endParaRPr lang="de-CH" sz="2800" dirty="0">
              <a:ea typeface="Calibri Light"/>
              <a:cs typeface="Calibri Light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290D528-F8AD-4445-B9AF-991B401805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25806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CH" sz="2600" dirty="0">
                <a:ea typeface="Calibri"/>
                <a:cs typeface="Calibri"/>
              </a:rPr>
              <a:t>Für alle Teilnehmenden ein "Manual Kinderfussball" abgeben</a:t>
            </a:r>
            <a:endParaRPr lang="de-DE" dirty="0">
              <a:ea typeface="Calibri"/>
              <a:cs typeface="Calibri"/>
            </a:endParaRPr>
          </a:p>
          <a:p>
            <a:r>
              <a:rPr lang="de-CH" sz="2600" dirty="0">
                <a:ea typeface="Calibri"/>
                <a:cs typeface="Calibri"/>
              </a:rPr>
              <a:t>Info vorab an KIFU-Leiter: Bestellung auf BASPO-Shop (CHF 24) oder elektronisch auf Clubcorner (Link: </a:t>
            </a:r>
            <a:r>
              <a:rPr lang="de-CH" sz="2600" dirty="0">
                <a:ea typeface="+mn-lt"/>
                <a:cs typeface="+mn-lt"/>
                <a:hlinkClick r:id="rId2"/>
              </a:rPr>
              <a:t>Fussball – Manual Kinder – Bundesamt für Sport BASPO – basposhop.ch</a:t>
            </a:r>
            <a:r>
              <a:rPr lang="de-CH" sz="2600" dirty="0">
                <a:ea typeface="+mn-lt"/>
                <a:cs typeface="+mn-lt"/>
              </a:rPr>
              <a:t>)</a:t>
            </a:r>
            <a:endParaRPr lang="de-DE" dirty="0">
              <a:ea typeface="+mn-lt"/>
              <a:cs typeface="+mn-lt"/>
            </a:endParaRPr>
          </a:p>
          <a:p>
            <a:endParaRPr lang="de-CH" sz="2600" dirty="0">
              <a:ea typeface="+mn-lt"/>
              <a:cs typeface="+mn-lt"/>
            </a:endParaRPr>
          </a:p>
          <a:p>
            <a:endParaRPr lang="de-CH" sz="2600" dirty="0">
              <a:ea typeface="+mn-lt"/>
              <a:cs typeface="+mn-lt"/>
            </a:endParaRPr>
          </a:p>
          <a:p>
            <a:pPr marL="0" indent="0">
              <a:buNone/>
            </a:pPr>
            <a:endParaRPr lang="de-CH" sz="2600" dirty="0">
              <a:ea typeface="Calibri"/>
              <a:cs typeface="Calibri"/>
            </a:endParaRPr>
          </a:p>
          <a:p>
            <a:endParaRPr lang="de-CH" sz="2600" dirty="0">
              <a:ea typeface="Calibri"/>
              <a:cs typeface="Calibri"/>
            </a:endParaRP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285F043-99F8-4E76-B5BC-C57C9682E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Datum der Präsentation</a:t>
            </a:r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8E08616-4D66-48BC-8312-E82A6ED32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AB213-EF28-49F9-86B8-431E92A3F2A7}" type="slidenum">
              <a:rPr lang="de-CH" smtClean="0"/>
              <a:t>1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0B00DF8-8609-40F9-B4BB-746B1E0F0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dirty="0"/>
              <a:t>KIFU-Mentoring - Trainingsplanung</a:t>
            </a:r>
          </a:p>
        </p:txBody>
      </p:sp>
    </p:spTree>
    <p:extLst>
      <p:ext uri="{BB962C8B-B14F-4D97-AF65-F5344CB8AC3E}">
        <p14:creationId xmlns:p14="http://schemas.microsoft.com/office/powerpoint/2010/main" val="22811127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94298B-E641-4185-A5C7-7F8E50359E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3789" y="2207108"/>
            <a:ext cx="9304421" cy="2142804"/>
          </a:xfrm>
        </p:spPr>
        <p:txBody>
          <a:bodyPr>
            <a:normAutofit/>
          </a:bodyPr>
          <a:lstStyle/>
          <a:p>
            <a:pPr algn="l"/>
            <a:r>
              <a:rPr lang="de-CH" sz="4400" dirty="0"/>
              <a:t>KIFU-Mentoring FVBJ</a:t>
            </a:r>
            <a:br>
              <a:rPr lang="de-CH" sz="4400" dirty="0"/>
            </a:br>
            <a:r>
              <a:rPr lang="de-CH" dirty="0"/>
              <a:t>Trainingsplanung</a:t>
            </a:r>
          </a:p>
        </p:txBody>
      </p:sp>
    </p:spTree>
    <p:extLst>
      <p:ext uri="{BB962C8B-B14F-4D97-AF65-F5344CB8AC3E}">
        <p14:creationId xmlns:p14="http://schemas.microsoft.com/office/powerpoint/2010/main" val="283833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A10EB2-2400-490D-874B-929B4BF0F776}" type="slidenum">
              <a:rPr lang="de-DE" smtClean="0"/>
              <a:pPr/>
              <a:t>3</a:t>
            </a:fld>
            <a:endParaRPr lang="de-DE"/>
          </a:p>
        </p:txBody>
      </p:sp>
      <p:pic>
        <p:nvPicPr>
          <p:cNvPr id="8" name="Inhaltsplatzhalter 5"/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8"/>
          <a:stretch/>
        </p:blipFill>
        <p:spPr>
          <a:xfrm>
            <a:off x="-176988" y="57303"/>
            <a:ext cx="12368698" cy="6741368"/>
          </a:xfrm>
        </p:spPr>
      </p:pic>
      <p:sp>
        <p:nvSpPr>
          <p:cNvPr id="4" name="Titel 3">
            <a:extLst>
              <a:ext uri="{FF2B5EF4-FFF2-40B4-BE49-F238E27FC236}">
                <a16:creationId xmlns:a16="http://schemas.microsoft.com/office/drawing/2014/main" id="{81522F3A-670F-4B13-A4E0-A4BD4C633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08368" y="404664"/>
            <a:ext cx="1937005" cy="648000"/>
          </a:xfrm>
        </p:spPr>
        <p:txBody>
          <a:bodyPr>
            <a:normAutofit fontScale="90000"/>
          </a:bodyPr>
          <a:lstStyle/>
          <a:p>
            <a:r>
              <a:rPr lang="de-CH" sz="5300" b="1">
                <a:solidFill>
                  <a:srgbClr val="7030A0"/>
                </a:solidFill>
              </a:rPr>
              <a:t>MERCI</a:t>
            </a:r>
            <a:endParaRPr lang="de-CH" sz="3200" b="1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42736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D14D66-FE84-483B-A59B-1F07C0E97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CH"/>
              <a:t>Inhalte</a:t>
            </a:r>
            <a:br>
              <a:rPr lang="de-CH" sz="2800"/>
            </a:br>
            <a:r>
              <a:rPr lang="de-CH" sz="2800"/>
              <a:t>Diese Präsentation liefert Informationen zu folgenden Fragen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290D528-F8AD-4445-B9AF-991B401805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CH" sz="2600" dirty="0"/>
              <a:t>Wie plane ich meine Saison / meine Trainings heute?</a:t>
            </a:r>
          </a:p>
          <a:p>
            <a:r>
              <a:rPr lang="de-CH" sz="2600" dirty="0"/>
              <a:t>Welche unterschiedlichen Zyklen der Trainingsplanung gibt es?</a:t>
            </a:r>
            <a:endParaRPr lang="de-CH" sz="2600" dirty="0">
              <a:cs typeface="Calibri"/>
            </a:endParaRPr>
          </a:p>
          <a:p>
            <a:r>
              <a:rPr lang="de-CH" sz="2600" dirty="0"/>
              <a:t>Worauf muss ich bei der Planung der einzelnen Trainings besonders achten?</a:t>
            </a:r>
            <a:endParaRPr lang="de-CH" sz="2600" dirty="0">
              <a:cs typeface="Calibri"/>
            </a:endParaRPr>
          </a:p>
          <a:p>
            <a:r>
              <a:rPr lang="de-CH" sz="2600" dirty="0"/>
              <a:t>Wie plane ich meine Saison / meine Trainings in Zukunft?</a:t>
            </a:r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285F043-99F8-4E76-B5BC-C57C9682E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Datum der Präsentation</a:t>
            </a:r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8E08616-4D66-48BC-8312-E82A6ED32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AB213-EF28-49F9-86B8-431E92A3F2A7}" type="slidenum">
              <a:rPr lang="de-CH" smtClean="0"/>
              <a:t>4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0B00DF8-8609-40F9-B4BB-746B1E0F0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dirty="0"/>
              <a:t>KIFU-Mentoring - Trainingsplanung</a:t>
            </a:r>
          </a:p>
        </p:txBody>
      </p:sp>
    </p:spTree>
    <p:extLst>
      <p:ext uri="{BB962C8B-B14F-4D97-AF65-F5344CB8AC3E}">
        <p14:creationId xmlns:p14="http://schemas.microsoft.com/office/powerpoint/2010/main" val="11543928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D14D66-FE84-483B-A59B-1F07C0E97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CH"/>
              <a:t>Diskussion </a:t>
            </a:r>
            <a:br>
              <a:rPr lang="de-CH"/>
            </a:br>
            <a:r>
              <a:rPr lang="de-CH" sz="2800"/>
              <a:t>Wie plane ich meine Saison/Trainings heute?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290D528-F8AD-4445-B9AF-991B401805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altLang="de-DE" sz="2600">
                <a:cs typeface="Arial" panose="020B0604020202020204" pitchFamily="34" charset="0"/>
              </a:rPr>
              <a:t>Wie bereitest du deine Saison vor?</a:t>
            </a:r>
          </a:p>
          <a:p>
            <a:r>
              <a:rPr lang="de-DE" altLang="de-DE" sz="2600">
                <a:cs typeface="Arial" panose="020B0604020202020204" pitchFamily="34" charset="0"/>
              </a:rPr>
              <a:t>Wie bereitest du deine Trainings vor?</a:t>
            </a:r>
          </a:p>
          <a:p>
            <a:endParaRPr lang="de-CH" sz="260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285F043-99F8-4E76-B5BC-C57C9682E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Datum der Präsentation</a:t>
            </a:r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8E08616-4D66-48BC-8312-E82A6ED32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AB213-EF28-49F9-86B8-431E92A3F2A7}" type="slidenum">
              <a:rPr lang="de-CH" smtClean="0"/>
              <a:t>5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0B00DF8-8609-40F9-B4BB-746B1E0F0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dirty="0"/>
              <a:t>KIFU-Mentoring - Trainingsplanung</a:t>
            </a:r>
          </a:p>
        </p:txBody>
      </p:sp>
    </p:spTree>
    <p:extLst>
      <p:ext uri="{BB962C8B-B14F-4D97-AF65-F5344CB8AC3E}">
        <p14:creationId xmlns:p14="http://schemas.microsoft.com/office/powerpoint/2010/main" val="3376277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D14D66-FE84-483B-A59B-1F07C0E97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CH"/>
              <a:t>4 Planungszyklen im Kinderfussball </a:t>
            </a:r>
            <a:br>
              <a:rPr lang="de-CH"/>
            </a:br>
            <a:r>
              <a:rPr lang="de-DE" sz="2800"/>
              <a:t>Welche unterschiedlichen Zyklen der Trainingsplanung gibt es?</a:t>
            </a:r>
            <a:endParaRPr lang="de-CH" sz="280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285F043-99F8-4E76-B5BC-C57C9682E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Datum der Präsentation</a:t>
            </a:r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8E08616-4D66-48BC-8312-E82A6ED32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AB213-EF28-49F9-86B8-431E92A3F2A7}" type="slidenum">
              <a:rPr lang="de-CH" smtClean="0"/>
              <a:t>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0B00DF8-8609-40F9-B4BB-746B1E0F0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dirty="0"/>
              <a:t>KIFU-Mentoring - Trainingsplanung</a:t>
            </a:r>
          </a:p>
        </p:txBody>
      </p:sp>
      <p:graphicFrame>
        <p:nvGraphicFramePr>
          <p:cNvPr id="9" name="Tabelle 5">
            <a:extLst>
              <a:ext uri="{FF2B5EF4-FFF2-40B4-BE49-F238E27FC236}">
                <a16:creationId xmlns:a16="http://schemas.microsoft.com/office/drawing/2014/main" id="{D388F279-DAAE-DF68-D2A4-A9F8475D9C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6799887"/>
              </p:ext>
            </p:extLst>
          </p:nvPr>
        </p:nvGraphicFramePr>
        <p:xfrm>
          <a:off x="1440940" y="1660711"/>
          <a:ext cx="9310119" cy="3894333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662521">
                  <a:extLst>
                    <a:ext uri="{9D8B030D-6E8A-4147-A177-3AD203B41FA5}">
                      <a16:colId xmlns:a16="http://schemas.microsoft.com/office/drawing/2014/main" val="1303040704"/>
                    </a:ext>
                  </a:extLst>
                </a:gridCol>
                <a:gridCol w="1662521">
                  <a:extLst>
                    <a:ext uri="{9D8B030D-6E8A-4147-A177-3AD203B41FA5}">
                      <a16:colId xmlns:a16="http://schemas.microsoft.com/office/drawing/2014/main" val="3454720141"/>
                    </a:ext>
                  </a:extLst>
                </a:gridCol>
                <a:gridCol w="5985077">
                  <a:extLst>
                    <a:ext uri="{9D8B030D-6E8A-4147-A177-3AD203B41FA5}">
                      <a16:colId xmlns:a16="http://schemas.microsoft.com/office/drawing/2014/main" val="1018090414"/>
                    </a:ext>
                  </a:extLst>
                </a:gridCol>
              </a:tblGrid>
              <a:tr h="663453">
                <a:tc>
                  <a:txBody>
                    <a:bodyPr/>
                    <a:lstStyle/>
                    <a:p>
                      <a:r>
                        <a:rPr lang="de-DE" sz="2000" dirty="0"/>
                        <a:t>Zyklus</a:t>
                      </a:r>
                      <a:endParaRPr lang="de-CH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2000" dirty="0"/>
                        <a:t>Dauer</a:t>
                      </a:r>
                      <a:endParaRPr lang="de-CH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2000" dirty="0"/>
                        <a:t>Inhalt</a:t>
                      </a:r>
                      <a:endParaRPr lang="de-CH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4468127"/>
                  </a:ext>
                </a:extLst>
              </a:tr>
              <a:tr h="972000">
                <a:tc>
                  <a:txBody>
                    <a:bodyPr/>
                    <a:lstStyle/>
                    <a:p>
                      <a:r>
                        <a:rPr lang="de-DE" sz="2000" dirty="0"/>
                        <a:t>Makrozyklus</a:t>
                      </a:r>
                      <a:endParaRPr lang="de-CH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2000" dirty="0"/>
                    </a:p>
                    <a:p>
                      <a:endParaRPr lang="de-DE" sz="2000" dirty="0"/>
                    </a:p>
                    <a:p>
                      <a:r>
                        <a:rPr lang="de-DE" sz="2000" dirty="0"/>
                        <a:t>6-12 Monate</a:t>
                      </a:r>
                    </a:p>
                    <a:p>
                      <a:endParaRPr lang="de-DE" sz="2000" dirty="0"/>
                    </a:p>
                    <a:p>
                      <a:endParaRPr lang="de-CH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CH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5536263"/>
                  </a:ext>
                </a:extLst>
              </a:tr>
              <a:tr h="972000">
                <a:tc>
                  <a:txBody>
                    <a:bodyPr/>
                    <a:lstStyle/>
                    <a:p>
                      <a:r>
                        <a:rPr lang="de-DE" sz="2000" dirty="0"/>
                        <a:t>Mesozyklus</a:t>
                      </a:r>
                      <a:endParaRPr lang="de-CH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2000" dirty="0"/>
                    </a:p>
                    <a:p>
                      <a:endParaRPr lang="de-DE" sz="2000" dirty="0"/>
                    </a:p>
                    <a:p>
                      <a:r>
                        <a:rPr lang="de-DE" sz="2000" dirty="0"/>
                        <a:t>3-6 Wochen</a:t>
                      </a:r>
                    </a:p>
                    <a:p>
                      <a:endParaRPr lang="de-DE" sz="2000" dirty="0"/>
                    </a:p>
                    <a:p>
                      <a:endParaRPr lang="de-CH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CH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6874638"/>
                  </a:ext>
                </a:extLst>
              </a:tr>
            </a:tbl>
          </a:graphicData>
        </a:graphic>
      </p:graphicFrame>
      <p:pic>
        <p:nvPicPr>
          <p:cNvPr id="3" name="Grafik 2">
            <a:extLst>
              <a:ext uri="{FF2B5EF4-FFF2-40B4-BE49-F238E27FC236}">
                <a16:creationId xmlns:a16="http://schemas.microsoft.com/office/drawing/2014/main" id="{70DDA424-EB64-72D2-C80D-494D1FA3B7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707" t="24653" r="9766" b="37624"/>
          <a:stretch/>
        </p:blipFill>
        <p:spPr>
          <a:xfrm>
            <a:off x="4763756" y="2425557"/>
            <a:ext cx="5108377" cy="132955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8FE7AD4A-0984-3280-B70E-118DEE35AF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88" t="27268" r="6000" b="62889"/>
          <a:stretch/>
        </p:blipFill>
        <p:spPr>
          <a:xfrm>
            <a:off x="4763756" y="4499799"/>
            <a:ext cx="6962765" cy="426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4855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D14D66-FE84-483B-A59B-1F07C0E97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CH"/>
              <a:t>4 Planungszyklen im Kinderfussball </a:t>
            </a:r>
            <a:br>
              <a:rPr lang="de-CH"/>
            </a:br>
            <a:r>
              <a:rPr lang="de-DE" sz="2800"/>
              <a:t>Welche unterschiedlichen Zyklen der Trainingsplanung gibt es?</a:t>
            </a:r>
            <a:endParaRPr lang="de-CH" sz="280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285F043-99F8-4E76-B5BC-C57C9682E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Datum der Präsentation</a:t>
            </a:r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8E08616-4D66-48BC-8312-E82A6ED32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AB213-EF28-49F9-86B8-431E92A3F2A7}" type="slidenum">
              <a:rPr lang="de-CH" smtClean="0"/>
              <a:t>7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0B00DF8-8609-40F9-B4BB-746B1E0F0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dirty="0"/>
              <a:t>KIFU-Mentoring - Trainingsplanung</a:t>
            </a:r>
          </a:p>
        </p:txBody>
      </p:sp>
      <p:graphicFrame>
        <p:nvGraphicFramePr>
          <p:cNvPr id="9" name="Tabelle 5">
            <a:extLst>
              <a:ext uri="{FF2B5EF4-FFF2-40B4-BE49-F238E27FC236}">
                <a16:creationId xmlns:a16="http://schemas.microsoft.com/office/drawing/2014/main" id="{D388F279-DAAE-DF68-D2A4-A9F8475D9C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5455384"/>
              </p:ext>
            </p:extLst>
          </p:nvPr>
        </p:nvGraphicFramePr>
        <p:xfrm>
          <a:off x="1440940" y="1660711"/>
          <a:ext cx="9310119" cy="3250893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662521">
                  <a:extLst>
                    <a:ext uri="{9D8B030D-6E8A-4147-A177-3AD203B41FA5}">
                      <a16:colId xmlns:a16="http://schemas.microsoft.com/office/drawing/2014/main" val="1303040704"/>
                    </a:ext>
                  </a:extLst>
                </a:gridCol>
                <a:gridCol w="1662521">
                  <a:extLst>
                    <a:ext uri="{9D8B030D-6E8A-4147-A177-3AD203B41FA5}">
                      <a16:colId xmlns:a16="http://schemas.microsoft.com/office/drawing/2014/main" val="3454720141"/>
                    </a:ext>
                  </a:extLst>
                </a:gridCol>
                <a:gridCol w="5985077">
                  <a:extLst>
                    <a:ext uri="{9D8B030D-6E8A-4147-A177-3AD203B41FA5}">
                      <a16:colId xmlns:a16="http://schemas.microsoft.com/office/drawing/2014/main" val="1018090414"/>
                    </a:ext>
                  </a:extLst>
                </a:gridCol>
              </a:tblGrid>
              <a:tr h="663453">
                <a:tc>
                  <a:txBody>
                    <a:bodyPr/>
                    <a:lstStyle/>
                    <a:p>
                      <a:r>
                        <a:rPr lang="de-DE" sz="2000" dirty="0"/>
                        <a:t>Zyklus</a:t>
                      </a:r>
                      <a:endParaRPr lang="de-CH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2000" dirty="0"/>
                        <a:t>Dauer</a:t>
                      </a:r>
                      <a:endParaRPr lang="de-CH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2000" dirty="0"/>
                        <a:t>Inhalt</a:t>
                      </a:r>
                      <a:endParaRPr lang="de-CH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4468127"/>
                  </a:ext>
                </a:extLst>
              </a:tr>
              <a:tr h="972000">
                <a:tc>
                  <a:txBody>
                    <a:bodyPr/>
                    <a:lstStyle/>
                    <a:p>
                      <a:r>
                        <a:rPr lang="de-DE" sz="2000" dirty="0"/>
                        <a:t>Mikrozyklus</a:t>
                      </a:r>
                    </a:p>
                    <a:p>
                      <a:r>
                        <a:rPr lang="de-DE" sz="2000" dirty="0"/>
                        <a:t>Woche</a:t>
                      </a:r>
                      <a:endParaRPr lang="de-CH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2000" dirty="0"/>
                        <a:t>1 Woche</a:t>
                      </a:r>
                      <a:endParaRPr lang="de-CH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CH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8040524"/>
                  </a:ext>
                </a:extLst>
              </a:tr>
              <a:tr h="972000">
                <a:tc>
                  <a:txBody>
                    <a:bodyPr/>
                    <a:lstStyle/>
                    <a:p>
                      <a:r>
                        <a:rPr lang="de-DE" sz="2000" dirty="0"/>
                        <a:t>Mikrozyklus</a:t>
                      </a:r>
                    </a:p>
                    <a:p>
                      <a:r>
                        <a:rPr lang="de-DE" sz="2000" dirty="0"/>
                        <a:t>Training</a:t>
                      </a:r>
                      <a:endParaRPr lang="de-CH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2000" dirty="0"/>
                    </a:p>
                    <a:p>
                      <a:endParaRPr lang="de-DE" sz="2000" dirty="0"/>
                    </a:p>
                    <a:p>
                      <a:r>
                        <a:rPr lang="de-DE" sz="2000" dirty="0"/>
                        <a:t>1 Training</a:t>
                      </a:r>
                    </a:p>
                    <a:p>
                      <a:endParaRPr lang="de-DE" sz="2000" dirty="0"/>
                    </a:p>
                    <a:p>
                      <a:endParaRPr lang="de-CH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CH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5506983"/>
                  </a:ext>
                </a:extLst>
              </a:tr>
            </a:tbl>
          </a:graphicData>
        </a:graphic>
      </p:graphicFrame>
      <p:pic>
        <p:nvPicPr>
          <p:cNvPr id="10" name="Grafik 9">
            <a:extLst>
              <a:ext uri="{FF2B5EF4-FFF2-40B4-BE49-F238E27FC236}">
                <a16:creationId xmlns:a16="http://schemas.microsoft.com/office/drawing/2014/main" id="{533D3699-8855-B4B0-E261-5DFBDE96F6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3756" y="3655100"/>
            <a:ext cx="609010" cy="864096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5ED3E540-F5DB-5DB9-548F-92D31F728A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3756" y="2405456"/>
            <a:ext cx="609010" cy="864096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9CC8B1D0-A46D-A24F-79D1-530DD499D8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4372" y="2406617"/>
            <a:ext cx="566726" cy="864096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BE94C255-1BC5-03E4-8EA3-36462DDF0C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0151" y="2405456"/>
            <a:ext cx="609010" cy="864096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A254F594-3A8B-B93C-9862-7F0DA6CE6C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6750" y="2405456"/>
            <a:ext cx="566726" cy="864096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2236A4BF-C35E-98D3-D4CB-862D047CF6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4372" y="3655100"/>
            <a:ext cx="566726" cy="864096"/>
          </a:xfrm>
          <a:prstGeom prst="rect">
            <a:avLst/>
          </a:prstGeom>
        </p:spPr>
      </p:pic>
      <p:pic>
        <p:nvPicPr>
          <p:cNvPr id="7" name="Grafik 6" descr="Ein Bild, das Text, Screenshot, Schrift, Design enthält.&#10;&#10;Beschreibung automatisch generiert.">
            <a:extLst>
              <a:ext uri="{FF2B5EF4-FFF2-40B4-BE49-F238E27FC236}">
                <a16:creationId xmlns:a16="http://schemas.microsoft.com/office/drawing/2014/main" id="{27CD10FB-D52E-B527-62D9-6EA7E52CA1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0904" y="3429000"/>
            <a:ext cx="4117880" cy="1316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290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A046F-668C-6172-5366-898F2BB7E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87A84B-E388-24A7-5D34-24C54C3C9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CH" dirty="0"/>
              <a:t>Makrozyklus – Halbjahresplanung</a:t>
            </a:r>
            <a:br>
              <a:rPr lang="de-CH" dirty="0"/>
            </a:br>
            <a:r>
              <a:rPr lang="de-DE" sz="2800" dirty="0"/>
              <a:t>Kat. E oder F</a:t>
            </a:r>
            <a:endParaRPr lang="de-CH" sz="280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0B3A9DD-9430-3E93-8DFC-F1447ABEA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Datum der Präsentation</a:t>
            </a:r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1E1F56D-9D17-62DE-FD71-00EC92E09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AB213-EF28-49F9-86B8-431E92A3F2A7}" type="slidenum">
              <a:rPr lang="de-CH" smtClean="0"/>
              <a:t>8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2D7F234-D8BC-C789-54F9-B870CB9F1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dirty="0"/>
              <a:t>KIFU-Mentoring - Trainingsplanung</a:t>
            </a:r>
          </a:p>
        </p:txBody>
      </p:sp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67347A92-7803-F8D4-7299-8DD75C4FF3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3494262"/>
              </p:ext>
            </p:extLst>
          </p:nvPr>
        </p:nvGraphicFramePr>
        <p:xfrm>
          <a:off x="1038294" y="1690688"/>
          <a:ext cx="8100000" cy="468000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:a16="http://schemas.microsoft.com/office/drawing/2014/main" val="1525837095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539070672"/>
                    </a:ext>
                  </a:extLst>
                </a:gridCol>
                <a:gridCol w="4860000">
                  <a:extLst>
                    <a:ext uri="{9D8B030D-6E8A-4147-A177-3AD203B41FA5}">
                      <a16:colId xmlns:a16="http://schemas.microsoft.com/office/drawing/2014/main" val="2621441658"/>
                    </a:ext>
                  </a:extLst>
                </a:gridCol>
              </a:tblGrid>
              <a:tr h="362619">
                <a:tc>
                  <a:txBody>
                    <a:bodyPr/>
                    <a:lstStyle/>
                    <a:p>
                      <a:pPr algn="ctr" fontAlgn="ctr"/>
                      <a:r>
                        <a:rPr lang="de-DE" sz="2000" b="1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D966"/>
                          </a:highlight>
                          <a:latin typeface="Calibri"/>
                        </a:rPr>
                        <a:t>Zyklus #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von – bis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b="1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D966"/>
                          </a:highlight>
                          <a:latin typeface="+mn-lt"/>
                        </a:rPr>
                        <a:t>Hauptthema</a:t>
                      </a:r>
                      <a:endParaRPr lang="de-DE" dirty="0"/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0076209"/>
                  </a:ext>
                </a:extLst>
              </a:tr>
              <a:tr h="524944"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7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0CECE"/>
                          </a:highlight>
                          <a:latin typeface="Calibri"/>
                        </a:rPr>
                        <a:t>Zyklus 1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7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0CECE"/>
                          </a:highlight>
                          <a:latin typeface="Calibri"/>
                        </a:rPr>
                        <a:t>12.8. - 1.9.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7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0CECE"/>
                          </a:highlight>
                          <a:latin typeface="Calibri"/>
                        </a:rPr>
                        <a:t>Dribbling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1879399"/>
                  </a:ext>
                </a:extLst>
              </a:tr>
              <a:tr h="524944"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7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0CECE"/>
                          </a:highlight>
                          <a:latin typeface="Calibri"/>
                        </a:rPr>
                        <a:t>Zyklus 2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7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0CECE"/>
                          </a:highlight>
                          <a:latin typeface="Calibri"/>
                        </a:rPr>
                        <a:t>2.-22.9.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7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0CECE"/>
                          </a:highlight>
                          <a:latin typeface="Calibri"/>
                        </a:rPr>
                        <a:t>Torabschluss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0972815"/>
                  </a:ext>
                </a:extLst>
              </a:tr>
              <a:tr h="642775"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7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2F2F2"/>
                          </a:highlight>
                          <a:latin typeface="Calibri"/>
                        </a:rPr>
                        <a:t>Zyklus 3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7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2F2F2"/>
                          </a:highlight>
                          <a:latin typeface="Calibri"/>
                        </a:rPr>
                        <a:t>23.9. - 13.10.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7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2F2F2"/>
                          </a:highlight>
                          <a:latin typeface="Calibri"/>
                        </a:rPr>
                        <a:t>Herbstferien</a:t>
                      </a:r>
                    </a:p>
                    <a:p>
                      <a:pPr algn="ctr" fontAlgn="ctr"/>
                      <a:r>
                        <a:rPr lang="de-DE" sz="17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2F2F2"/>
                          </a:highlight>
                          <a:latin typeface="Calibri"/>
                        </a:rPr>
                        <a:t>(1-2 Wochen Pause &amp;1-2 Woche Polysportiv)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3809307"/>
                  </a:ext>
                </a:extLst>
              </a:tr>
              <a:tr h="524944"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7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0CECE"/>
                          </a:highlight>
                          <a:latin typeface="Calibri"/>
                        </a:rPr>
                        <a:t>Zyklus 4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7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0CECE"/>
                          </a:highlight>
                          <a:latin typeface="Calibri"/>
                        </a:rPr>
                        <a:t>14.10. - 3.11.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7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0CECE"/>
                          </a:highlight>
                          <a:latin typeface="Calibri"/>
                        </a:rPr>
                        <a:t>Passen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7356660"/>
                  </a:ext>
                </a:extLst>
              </a:tr>
              <a:tr h="524944">
                <a:tc>
                  <a:txBody>
                    <a:bodyPr/>
                    <a:lstStyle/>
                    <a:p>
                      <a:pPr algn="ctr" fontAlgn="ctr"/>
                      <a:endParaRPr lang="de-DE" sz="17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7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2F2F2"/>
                          </a:highlight>
                          <a:latin typeface="Calibri"/>
                        </a:rPr>
                        <a:t>4.-10.11.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7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2F2F2"/>
                          </a:highlight>
                          <a:latin typeface="Calibri"/>
                        </a:rPr>
                        <a:t>Turnier-/Spezialwoche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8298051"/>
                  </a:ext>
                </a:extLst>
              </a:tr>
              <a:tr h="524944"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7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0CECE"/>
                          </a:highlight>
                          <a:latin typeface="Calibri"/>
                        </a:rPr>
                        <a:t>Zyklus 5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7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0CECE"/>
                          </a:highlight>
                          <a:latin typeface="Calibri"/>
                        </a:rPr>
                        <a:t>11.11. - 1.12.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7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0CECE"/>
                          </a:highlight>
                          <a:latin typeface="Calibri"/>
                        </a:rPr>
                        <a:t>Dribbling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5256564"/>
                  </a:ext>
                </a:extLst>
              </a:tr>
              <a:tr h="524944"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7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0CECE"/>
                          </a:highlight>
                          <a:latin typeface="Calibri"/>
                        </a:rPr>
                        <a:t>Zyklus 6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7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0CECE"/>
                          </a:highlight>
                          <a:latin typeface="Calibri"/>
                        </a:rPr>
                        <a:t>1.-13.12.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7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0CECE"/>
                          </a:highlight>
                          <a:latin typeface="Calibri"/>
                        </a:rPr>
                        <a:t>Torabschluss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5314562"/>
                  </a:ext>
                </a:extLst>
              </a:tr>
              <a:tr h="524944">
                <a:tc>
                  <a:txBody>
                    <a:bodyPr/>
                    <a:lstStyle/>
                    <a:p>
                      <a:pPr algn="ctr" fontAlgn="ctr"/>
                      <a:endParaRPr lang="de-DE" sz="17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7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2F2F2"/>
                          </a:highlight>
                          <a:latin typeface="Calibri"/>
                        </a:rPr>
                        <a:t>16.-22.12.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7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2F2F2"/>
                          </a:highlight>
                          <a:latin typeface="Calibri"/>
                        </a:rPr>
                        <a:t>Turnier-/Spezialwoche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5234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62770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FD745-30B2-3A86-D858-A9DF98E44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DCBD38-E761-DB5A-1B9D-6CC4595A9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CH"/>
              <a:t>Makrozyklus – Halbjahresplanung</a:t>
            </a:r>
            <a:br>
              <a:rPr lang="de-CH"/>
            </a:br>
            <a:r>
              <a:rPr lang="de-DE" sz="2800"/>
              <a:t>Kat. E oder F</a:t>
            </a:r>
            <a:endParaRPr lang="de-CH" sz="280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0FFF3A4-2C13-40F1-A903-1D5178049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Datum der Präsentation</a:t>
            </a:r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6DC1A3E-BC38-2279-2692-A2381BD11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AB213-EF28-49F9-86B8-431E92A3F2A7}" type="slidenum">
              <a:rPr lang="de-CH" smtClean="0"/>
              <a:t>9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680FC4E-D6D4-4905-2A16-BFD9060B6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KIFU-Mentoring - Trainingsplanung</a:t>
            </a:r>
            <a:endParaRPr lang="de-CH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65697596-464F-7B66-4D6B-64F216C177B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707" t="24653" r="9138" b="37624"/>
          <a:stretch/>
        </p:blipFill>
        <p:spPr>
          <a:xfrm>
            <a:off x="107731" y="2199072"/>
            <a:ext cx="12084269" cy="3121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9562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D14D66-FE84-483B-A59B-1F07C0E97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CH" dirty="0"/>
              <a:t>Mesozyklus</a:t>
            </a:r>
            <a:br>
              <a:rPr lang="de-CH" dirty="0"/>
            </a:br>
            <a:r>
              <a:rPr lang="de-CH" dirty="0"/>
              <a:t>Zyklusplanung – Kat. E/F</a:t>
            </a:r>
            <a:endParaRPr lang="de-CH" sz="280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290D528-F8AD-4445-B9AF-991B401805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816584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CH" sz="2600" dirty="0"/>
              <a:t>Zyklus von 3 Wochen mit:</a:t>
            </a:r>
          </a:p>
          <a:p>
            <a:r>
              <a:rPr lang="de-CH" sz="2600" dirty="0"/>
              <a:t>Gleichem Thema</a:t>
            </a:r>
          </a:p>
          <a:p>
            <a:r>
              <a:rPr lang="de-CH" sz="2600" dirty="0"/>
              <a:t>Anknüpfen an Bekanntem</a:t>
            </a:r>
          </a:p>
          <a:p>
            <a:r>
              <a:rPr lang="de-CH" sz="2600" dirty="0"/>
              <a:t>Gleichen Übungen, jedoch mit anderem Fokus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285F043-99F8-4E76-B5BC-C57C9682E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Datum der Präsentation</a:t>
            </a:r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8E08616-4D66-48BC-8312-E82A6ED32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AB213-EF28-49F9-86B8-431E92A3F2A7}" type="slidenum">
              <a:rPr lang="de-CH" smtClean="0"/>
              <a:t>10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0B00DF8-8609-40F9-B4BB-746B1E0F0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dirty="0"/>
              <a:t>KIFU-Mentoring - Trainingsplanung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508B56E2-81D5-1CC5-3635-E053C30C1D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88" t="27268" r="6000" b="62889"/>
          <a:stretch/>
        </p:blipFill>
        <p:spPr>
          <a:xfrm>
            <a:off x="137159" y="4001294"/>
            <a:ext cx="11795539" cy="723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2831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E661E-44C0-E325-6D28-99820F160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1540C0-A666-4A4A-33F4-A96FA59C0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CH" dirty="0"/>
              <a:t>Beispiel – Mesozyklus – Kat. E/F </a:t>
            </a:r>
            <a:br>
              <a:rPr lang="de-CH" dirty="0"/>
            </a:br>
            <a:r>
              <a:rPr lang="de-DE" sz="2800" dirty="0"/>
              <a:t>Trainingsplanung KW 33-35, Thema Dribbling</a:t>
            </a:r>
            <a:endParaRPr lang="de-CH" sz="280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EFC330-D774-EFF9-BDA2-76A8BA735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Datum der Präsentation</a:t>
            </a:r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2D01D18-AF0B-02E0-3035-F9301CBEF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AB213-EF28-49F9-86B8-431E92A3F2A7}" type="slidenum">
              <a:rPr lang="de-CH" smtClean="0"/>
              <a:t>11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17DDCA2-8DA1-8C36-F2F0-E110E7076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dirty="0"/>
              <a:t>KIFU-Mentoring - Trainingsplanung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683E7F68-677B-069B-3672-D85C8BDF03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2597"/>
          <a:stretch/>
        </p:blipFill>
        <p:spPr>
          <a:xfrm>
            <a:off x="100396" y="1690688"/>
            <a:ext cx="11991208" cy="3583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4726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AC9B2-F6E9-5FAC-6534-D292F052D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7B27A9-ED8A-1935-C450-9FFFEA73B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CH" dirty="0"/>
              <a:t>Beispiel – Mesozyklus – Kat. E/F </a:t>
            </a:r>
            <a:br>
              <a:rPr lang="de-CH" dirty="0"/>
            </a:br>
            <a:r>
              <a:rPr lang="de-DE" sz="2800" dirty="0"/>
              <a:t>Trainingsplanung KW 33-35, Thema Dribbling</a:t>
            </a:r>
            <a:endParaRPr lang="de-CH" sz="280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48AAC9F-547F-93A7-C598-FA7D08C5D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Datum der Präsentation</a:t>
            </a:r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5187306-149B-D82A-18DF-17D540B35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AB213-EF28-49F9-86B8-431E92A3F2A7}" type="slidenum">
              <a:rPr lang="de-CH" smtClean="0"/>
              <a:t>12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CEEA67E-40EE-8713-1CA4-F40F857D6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dirty="0"/>
              <a:t>KIFU-Mentoring - Trainingsplanung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A2FB5469-5369-7A56-8B34-09BAC663A80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6965"/>
          <a:stretch/>
        </p:blipFill>
        <p:spPr>
          <a:xfrm>
            <a:off x="100396" y="1690688"/>
            <a:ext cx="11991208" cy="4009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8421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D14D66-FE84-483B-A59B-1F07C0E97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CH" dirty="0"/>
              <a:t>Beispiel – Mesozyklus – Kat. E/F </a:t>
            </a:r>
            <a:br>
              <a:rPr lang="de-CH" dirty="0"/>
            </a:br>
            <a:r>
              <a:rPr lang="de-DE" sz="2800" dirty="0"/>
              <a:t>Trainingsplanung KW 33-35, Thema Dribbling</a:t>
            </a:r>
            <a:endParaRPr lang="de-CH" sz="280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285F043-99F8-4E76-B5BC-C57C9682E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Datum der Präsentation</a:t>
            </a:r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8E08616-4D66-48BC-8312-E82A6ED32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AB213-EF28-49F9-86B8-431E92A3F2A7}" type="slidenum">
              <a:rPr lang="de-CH" smtClean="0"/>
              <a:t>13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0B00DF8-8609-40F9-B4BB-746B1E0F0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dirty="0"/>
              <a:t>KIFU-Mentoring - Trainingsplanung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182EC55D-FB09-7DE6-0CC7-B002063D13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00" y="1690688"/>
            <a:ext cx="11991600" cy="5098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6240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CB765-07F8-8B74-6EB3-B62D3183E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E23846-BD70-B666-72A3-9A712F0CA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CH" dirty="0"/>
              <a:t>Mikrozyklus – Kat. </a:t>
            </a:r>
            <a:r>
              <a:rPr lang="de-CH"/>
              <a:t>F – siehe Manual </a:t>
            </a:r>
            <a:endParaRPr lang="de-CH" sz="280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83F63D4-0907-C15A-5F1E-005378FA1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Datum der Präsentation</a:t>
            </a:r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4A0D6FE-A4C5-A330-1BB2-39F643955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AB213-EF28-49F9-86B8-431E92A3F2A7}" type="slidenum">
              <a:rPr lang="de-CH" smtClean="0"/>
              <a:t>14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5F215F0-4D70-F2E4-102C-BC99EBB00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dirty="0"/>
              <a:t>KIFU-Mentoring - Trainingsplanung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F632E311-CB77-5A7C-7352-8BDF74F66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7570" y="1589454"/>
            <a:ext cx="3298430" cy="4680000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3FDC2EE1-047A-21EE-65E9-F872886891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589454"/>
            <a:ext cx="3069424" cy="46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2908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C47C7-B52C-49CC-FFE9-458E57B57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D0E20F-71C7-3EBB-5D92-A7DC3CDA2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CH" dirty="0"/>
              <a:t>Trainingsplanung</a:t>
            </a:r>
            <a:br>
              <a:rPr lang="de-CH" dirty="0"/>
            </a:br>
            <a:r>
              <a:rPr lang="de-DE" sz="2800" dirty="0"/>
              <a:t>Worauf muss ich bei der Planung der einzelnen Trainings achten?</a:t>
            </a:r>
            <a:endParaRPr lang="de-CH" sz="280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5CC1D76-D4D6-B779-C4C1-F3C6FD3678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Trainingsschema im Kinderfussball</a:t>
            </a:r>
          </a:p>
          <a:p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2FA3B8C-9BFB-4EA5-A3F5-BC66E3E31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Datum der Präsentation</a:t>
            </a:r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30F2DC8-4362-4410-874D-92F2A9750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AB213-EF28-49F9-86B8-431E92A3F2A7}" type="slidenum">
              <a:rPr lang="de-CH" smtClean="0"/>
              <a:t>15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8BFBCF5-D4CA-3976-DE95-045F0B4C3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dirty="0"/>
              <a:t>KIFU-Mentoring - Trainingsplanung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DF70E221-ED97-8ECA-4393-B2394E0FCA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807" y="2396963"/>
            <a:ext cx="11814385" cy="37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3575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4BF2D-4463-00F6-5D72-3F7391F7F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38531A-1AF5-CA32-2A30-42D90A150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CH" dirty="0"/>
              <a:t>Übungs-/Spielformaufbau</a:t>
            </a:r>
            <a:br>
              <a:rPr lang="de-CH" dirty="0"/>
            </a:br>
            <a:r>
              <a:rPr lang="de-DE" sz="2800" dirty="0"/>
              <a:t>Worauf muss ich bei der einzelnen Übung / Spielform achten?</a:t>
            </a:r>
            <a:endParaRPr lang="de-CH" sz="280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67DFE6A-F2AB-F965-00DB-769FE5CE1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Methodischer Fahrplan für jede Übung/Spielform im Training</a:t>
            </a:r>
          </a:p>
          <a:p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2E71FA1-5048-ED07-180A-A631CF24F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Datum der Präsentation</a:t>
            </a:r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C9174CC-3DA3-3207-5921-D7A275F47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AB213-EF28-49F9-86B8-431E92A3F2A7}" type="slidenum">
              <a:rPr lang="de-CH" smtClean="0"/>
              <a:t>16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DAD6D91-D99B-DD79-0C2F-5D7AC6484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dirty="0"/>
              <a:t>KIFU-Mentoring - Trainingsplanung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B684BB8-930F-B840-F52C-09740CE7B07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032" t="12251" r="9230" b="12959"/>
          <a:stretch/>
        </p:blipFill>
        <p:spPr>
          <a:xfrm>
            <a:off x="417801" y="2529000"/>
            <a:ext cx="11356397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1206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89FB0710-06F8-90E1-6A35-D9BD7F9741D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206"/>
          <a:stretch/>
        </p:blipFill>
        <p:spPr>
          <a:xfrm>
            <a:off x="3454509" y="1856350"/>
            <a:ext cx="5282981" cy="4500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E9D14D66-FE84-483B-A59B-1F07C0E97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608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de-CH" sz="4900" dirty="0"/>
              <a:t>Tipps &amp; Tricks Übungen/Spielformen</a:t>
            </a:r>
            <a:br>
              <a:rPr lang="de-CH" sz="4900" dirty="0"/>
            </a:br>
            <a:r>
              <a:rPr lang="de-CH" sz="3100" dirty="0"/>
              <a:t>Wie kann ich die selbe Übung/Spielform mehrmals pro Zyklus jedoch mit einem anderen Fokus durchführen?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840D5F9C-2670-A178-9C45-3AA31ECB18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Rad der Variation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285F043-99F8-4E76-B5BC-C57C9682E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Datum der Präsentation</a:t>
            </a:r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8E08616-4D66-48BC-8312-E82A6ED32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AB213-EF28-49F9-86B8-431E92A3F2A7}" type="slidenum">
              <a:rPr lang="de-CH" smtClean="0"/>
              <a:t>17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0B00DF8-8609-40F9-B4BB-746B1E0F0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dirty="0"/>
              <a:t>KIFU-Mentoring - Trainingsplanung</a:t>
            </a:r>
          </a:p>
        </p:txBody>
      </p:sp>
    </p:spTree>
    <p:extLst>
      <p:ext uri="{BB962C8B-B14F-4D97-AF65-F5344CB8AC3E}">
        <p14:creationId xmlns:p14="http://schemas.microsoft.com/office/powerpoint/2010/main" val="13131864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D14D66-FE84-483B-A59B-1F07C0E97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CH" sz="4900"/>
              <a:t>Gruppenauftrag Trainingsplanung</a:t>
            </a:r>
            <a:endParaRPr lang="de-CH" sz="3100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840D5F9C-2670-A178-9C45-3AA31ECB18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03339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CH" dirty="0"/>
              <a:t>Planung Mesozyklus (3 Wochen) für eure Kategorie zum Thema Dribbling, Pass &amp; Ballkontrolle oder Torabschluss   		30min</a:t>
            </a:r>
            <a:endParaRPr lang="de-CH" dirty="0">
              <a:ea typeface="Calibri"/>
              <a:cs typeface="Calibri"/>
            </a:endParaRPr>
          </a:p>
          <a:p>
            <a:pPr marL="0" indent="0">
              <a:buNone/>
            </a:pPr>
            <a:endParaRPr lang="de-CH" dirty="0">
              <a:ea typeface="Calibri"/>
              <a:cs typeface="Calibri"/>
            </a:endParaRPr>
          </a:p>
          <a:p>
            <a:r>
              <a:rPr lang="de-CH" dirty="0"/>
              <a:t>Präsentation der Planungen im Plenum      		25min</a:t>
            </a:r>
            <a:endParaRPr lang="de-CH" dirty="0">
              <a:ea typeface="Calibri"/>
              <a:cs typeface="Calibri"/>
            </a:endParaRP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285F043-99F8-4E76-B5BC-C57C9682E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Datum der Präsentation</a:t>
            </a:r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8E08616-4D66-48BC-8312-E82A6ED32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AB213-EF28-49F9-86B8-431E92A3F2A7}" type="slidenum">
              <a:rPr lang="de-CH" smtClean="0"/>
              <a:t>18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0B00DF8-8609-40F9-B4BB-746B1E0F0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dirty="0"/>
              <a:t>KIFU-Mentoring - Trainingsplanung</a:t>
            </a:r>
          </a:p>
        </p:txBody>
      </p:sp>
    </p:spTree>
    <p:extLst>
      <p:ext uri="{BB962C8B-B14F-4D97-AF65-F5344CB8AC3E}">
        <p14:creationId xmlns:p14="http://schemas.microsoft.com/office/powerpoint/2010/main" val="18753524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D14D66-FE84-483B-A59B-1F07C0E97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CH"/>
              <a:t>Diskussion </a:t>
            </a:r>
            <a:br>
              <a:rPr lang="de-CH"/>
            </a:br>
            <a:r>
              <a:rPr lang="de-DE" sz="2800"/>
              <a:t>Wie plane ich meine Saison/Trainings in Zukunft?</a:t>
            </a:r>
            <a:endParaRPr lang="de-CH" sz="280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290D528-F8AD-4445-B9AF-991B401805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de-DE" altLang="de-DE" sz="2800" dirty="0">
                <a:cs typeface="Arial" panose="020B0604020202020204" pitchFamily="34" charset="0"/>
              </a:rPr>
              <a:t>Wirst du in Zukunft deine Saison / deine Trainings anders planen?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de-DE" altLang="de-DE" dirty="0">
                <a:cs typeface="Arial" panose="020B0604020202020204" pitchFamily="34" charset="0"/>
                <a:sym typeface="Wingdings" panose="05000000000000000000" pitchFamily="2" charset="2"/>
              </a:rPr>
              <a:t> Begründe deine Antwort</a:t>
            </a:r>
            <a:endParaRPr lang="de-CH" sz="260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285F043-99F8-4E76-B5BC-C57C9682E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Datum der Präsentation</a:t>
            </a:r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8E08616-4D66-48BC-8312-E82A6ED32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AB213-EF28-49F9-86B8-431E92A3F2A7}" type="slidenum">
              <a:rPr lang="de-CH" smtClean="0"/>
              <a:t>19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0B00DF8-8609-40F9-B4BB-746B1E0F0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dirty="0"/>
              <a:t>KIFU-Mentoring - Trainingsplanung</a:t>
            </a:r>
          </a:p>
        </p:txBody>
      </p:sp>
    </p:spTree>
    <p:extLst>
      <p:ext uri="{BB962C8B-B14F-4D97-AF65-F5344CB8AC3E}">
        <p14:creationId xmlns:p14="http://schemas.microsoft.com/office/powerpoint/2010/main" val="38327125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FFB864D-8FB8-9673-D204-38D124367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de-DE" sz="5400">
                <a:cs typeface="Calibri Light" panose="020F0302020204030204"/>
              </a:rPr>
              <a:t>Take Home Message</a:t>
            </a:r>
          </a:p>
        </p:txBody>
      </p:sp>
      <p:sp>
        <p:nvSpPr>
          <p:cNvPr id="15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505533C-A958-F95D-F8AB-4D5D29BAFA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de-DE" sz="1700">
                <a:cs typeface="Calibri"/>
              </a:rPr>
              <a:t>Eine gute und langfristige Planung erleichtert die Arbeit der Trainer:innen enorm</a:t>
            </a:r>
          </a:p>
          <a:p>
            <a:pPr marL="0" indent="0">
              <a:buNone/>
            </a:pPr>
            <a:endParaRPr lang="de-DE" sz="1700">
              <a:ea typeface="Calibri"/>
              <a:cs typeface="Calibri"/>
            </a:endParaRPr>
          </a:p>
          <a:p>
            <a:r>
              <a:rPr lang="de-DE" sz="1700">
                <a:ea typeface="Calibri"/>
                <a:cs typeface="Calibri"/>
              </a:rPr>
              <a:t>1 Zyklus (z.B. 3 Wochen) </a:t>
            </a:r>
            <a:r>
              <a:rPr lang="de-DE" sz="1700">
                <a:ea typeface="Calibri"/>
                <a:cs typeface="Calibri"/>
                <a:sym typeface="Wingdings" panose="05000000000000000000" pitchFamily="2" charset="2"/>
              </a:rPr>
              <a:t></a:t>
            </a:r>
            <a:r>
              <a:rPr lang="de-DE" sz="1700">
                <a:ea typeface="Calibri"/>
                <a:cs typeface="Calibri"/>
              </a:rPr>
              <a:t> Konzentration auf 1 Themenschwerpunkt</a:t>
            </a:r>
          </a:p>
          <a:p>
            <a:pPr marL="0" indent="0">
              <a:buNone/>
            </a:pPr>
            <a:endParaRPr lang="de-CH" sz="1700">
              <a:ea typeface="Calibri"/>
              <a:cs typeface="Calibri"/>
            </a:endParaRPr>
          </a:p>
          <a:p>
            <a:r>
              <a:rPr lang="de-CH" sz="1700">
                <a:ea typeface="Calibri"/>
                <a:cs typeface="Calibri"/>
              </a:rPr>
              <a:t>Wiederholung macht den Meister </a:t>
            </a:r>
          </a:p>
          <a:p>
            <a:pPr marL="0" indent="0">
              <a:buNone/>
            </a:pPr>
            <a:r>
              <a:rPr lang="de-CH" sz="1700">
                <a:ea typeface="Calibri"/>
                <a:cs typeface="Calibri"/>
              </a:rPr>
              <a:t>-&gt; In einem Zyklus Übungen / Spielformen wiederholen, jedoch den Fokus verändern</a:t>
            </a:r>
            <a:endParaRPr lang="en-US" sz="1700">
              <a:ea typeface="Calibri"/>
              <a:cs typeface="Calibri"/>
            </a:endParaRPr>
          </a:p>
          <a:p>
            <a:endParaRPr lang="de-DE" sz="1700">
              <a:ea typeface="Calibri"/>
              <a:cs typeface="Calibri"/>
            </a:endParaRP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50B6283-E94C-6A86-C214-BB510BDF57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de-DE"/>
              <a:t>Datum der Präsentation</a:t>
            </a:r>
            <a:endParaRPr lang="de-CH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0E58F0FF-762E-69AB-CAA9-B360B70E65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03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0ADBC75-3DC9-618D-7AA6-597D9D8E5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48400" y="6356350"/>
            <a:ext cx="4114800" cy="365125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r>
              <a:rPr lang="de-CH">
                <a:solidFill>
                  <a:srgbClr val="FFFFFF"/>
                </a:solidFill>
              </a:rPr>
              <a:t>KIFU-Mentoring - Trainingsplanung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BD0E327-A764-B562-F8C5-C00C9EDFB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9400" y="6356350"/>
            <a:ext cx="914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16AB213-EF28-49F9-86B8-431E92A3F2A7}" type="slidenum">
              <a:rPr lang="de-CH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20</a:t>
            </a:fld>
            <a:endParaRPr lang="de-CH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25533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2BD57-529E-FF23-0EA4-32270226A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B135C6-80A8-9D10-49E1-C784E831D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>
                <a:cs typeface="Calibri Light" panose="020F0302020204030204"/>
              </a:rPr>
              <a:t>Social</a:t>
            </a:r>
            <a:r>
              <a:rPr lang="de-DE" dirty="0">
                <a:cs typeface="Calibri Light" panose="020F0302020204030204"/>
              </a:rPr>
              <a:t> Media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3D7F102-EA10-1A38-4A35-7C360B12B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Datum der Präsentation</a:t>
            </a:r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53329DB-7CF5-03D8-0B17-D4F8A63CB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AB213-EF28-49F9-86B8-431E92A3F2A7}" type="slidenum">
              <a:rPr lang="de-CH" smtClean="0"/>
              <a:t>21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6C1338B-B3F7-B0E4-E6F0-D80A2FD55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dirty="0"/>
              <a:t>KIFU-Mentoring - Trainingsplanung</a:t>
            </a:r>
            <a:endParaRPr lang="de-CH" dirty="0">
              <a:solidFill>
                <a:srgbClr val="000000"/>
              </a:solidFill>
            </a:endParaRP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A10B1626-09D3-7328-D3B3-D10C1576DB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85330"/>
            <a:ext cx="3911714" cy="4494309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BACC750E-6C90-80F3-F10D-0006D2A837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1074" y="1631548"/>
            <a:ext cx="3911714" cy="4494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6369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561FCD107DF514A8859BCDB56735D47" ma:contentTypeVersion="11" ma:contentTypeDescription="Create a new document." ma:contentTypeScope="" ma:versionID="6f30ac3e4d74510fed27efa433f619c1">
  <xsd:schema xmlns:xsd="http://www.w3.org/2001/XMLSchema" xmlns:xs="http://www.w3.org/2001/XMLSchema" xmlns:p="http://schemas.microsoft.com/office/2006/metadata/properties" xmlns:ns2="6d31e2e5-a8a7-498a-aa6f-8be7c4a4f031" targetNamespace="http://schemas.microsoft.com/office/2006/metadata/properties" ma:root="true" ma:fieldsID="cb238fe6727a650d607bb0c52a12815e" ns2:_="">
    <xsd:import namespace="6d31e2e5-a8a7-498a-aa6f-8be7c4a4f03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FCLangentha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31e2e5-a8a7-498a-aa6f-8be7c4a4f03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2baddf16-095b-4e4c-9a3a-8a66ec619d3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FCLangenthal" ma:index="18" nillable="true" ma:displayName="FC Langenthal" ma:description="Gespräch technischer Leiter" ma:format="Dropdown" ma:internalName="FCLangenthal">
      <xsd:simpleType>
        <xsd:restriction base="dms:Choice">
          <xsd:enumeration value="Auswahl 1"/>
          <xsd:enumeration value="Auswahl 2"/>
          <xsd:enumeration value="Auswahl 3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d31e2e5-a8a7-498a-aa6f-8be7c4a4f031">
      <Terms xmlns="http://schemas.microsoft.com/office/infopath/2007/PartnerControls"/>
    </lcf76f155ced4ddcb4097134ff3c332f>
    <FCLangenthal xmlns="6d31e2e5-a8a7-498a-aa6f-8be7c4a4f031" xsi:nil="true"/>
  </documentManagement>
</p:properties>
</file>

<file path=customXml/itemProps1.xml><?xml version="1.0" encoding="utf-8"?>
<ds:datastoreItem xmlns:ds="http://schemas.openxmlformats.org/officeDocument/2006/customXml" ds:itemID="{32CDCE4C-B7D2-4FFE-8BE9-04F8EAA817C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38E382F-550B-4566-9D47-98F4D8D2875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d31e2e5-a8a7-498a-aa6f-8be7c4a4f03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97D61DE-6FC6-4D4A-8CB2-726883CBA8AE}">
  <ds:schemaRefs>
    <ds:schemaRef ds:uri="418fce46-21af-4e0c-95a2-16d96657deb2"/>
    <ds:schemaRef ds:uri="fd887184-009e-4f9e-bbfc-9ce5b8ec9e0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6d31e2e5-a8a7-498a-aa6f-8be7c4a4f03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707</Words>
  <Application>Microsoft Office PowerPoint</Application>
  <PresentationFormat>Breitbild</PresentationFormat>
  <Paragraphs>160</Paragraphs>
  <Slides>21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</vt:lpstr>
      <vt:lpstr>VORBEREITUNGEN für Mentoring-Abend im Verein</vt:lpstr>
      <vt:lpstr>KIFU-Mentoring FVBJ Trainingsplanung</vt:lpstr>
      <vt:lpstr>MERCI</vt:lpstr>
      <vt:lpstr>Inhalte Diese Präsentation liefert Informationen zu folgenden Fragen</vt:lpstr>
      <vt:lpstr>Diskussion  Wie plane ich meine Saison/Trainings heute?</vt:lpstr>
      <vt:lpstr>4 Planungszyklen im Kinderfussball  Welche unterschiedlichen Zyklen der Trainingsplanung gibt es?</vt:lpstr>
      <vt:lpstr>4 Planungszyklen im Kinderfussball  Welche unterschiedlichen Zyklen der Trainingsplanung gibt es?</vt:lpstr>
      <vt:lpstr>Makrozyklus – Halbjahresplanung Kat. E oder F</vt:lpstr>
      <vt:lpstr>Makrozyklus – Halbjahresplanung Kat. E oder F</vt:lpstr>
      <vt:lpstr>Mesozyklus Zyklusplanung – Kat. E/F</vt:lpstr>
      <vt:lpstr>Beispiel – Mesozyklus – Kat. E/F  Trainingsplanung KW 33-35, Thema Dribbling</vt:lpstr>
      <vt:lpstr>Beispiel – Mesozyklus – Kat. E/F  Trainingsplanung KW 33-35, Thema Dribbling</vt:lpstr>
      <vt:lpstr>Beispiel – Mesozyklus – Kat. E/F  Trainingsplanung KW 33-35, Thema Dribbling</vt:lpstr>
      <vt:lpstr>Mikrozyklus – Kat. F – siehe Manual </vt:lpstr>
      <vt:lpstr>Trainingsplanung Worauf muss ich bei der Planung der einzelnen Trainings achten?</vt:lpstr>
      <vt:lpstr>Übungs-/Spielformaufbau Worauf muss ich bei der einzelnen Übung / Spielform achten?</vt:lpstr>
      <vt:lpstr>Tipps &amp; Tricks Übungen/Spielformen Wie kann ich die selbe Übung/Spielform mehrmals pro Zyklus jedoch mit einem anderen Fokus durchführen?</vt:lpstr>
      <vt:lpstr>Gruppenauftrag Trainingsplanung</vt:lpstr>
      <vt:lpstr>Diskussion  Wie plane ich meine Saison/Trainings in Zukunft?</vt:lpstr>
      <vt:lpstr>Take Home Message</vt:lpstr>
      <vt:lpstr>Social Media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Haldemann Nino</dc:creator>
  <cp:lastModifiedBy>Schwab Janis</cp:lastModifiedBy>
  <cp:revision>108</cp:revision>
  <dcterms:created xsi:type="dcterms:W3CDTF">2020-09-24T08:49:55Z</dcterms:created>
  <dcterms:modified xsi:type="dcterms:W3CDTF">2025-05-26T09:20:53Z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0x0101002561FCD107DF514A8859BCDB56735D47</vt:lpwstr>
  </property>
  <property fmtid="{D5CDD505-2E9C-101B-9397-08002B2CF9AE}" pid="3" name="MediaServiceImageTags">
    <vt:lpwstr/>
  </property>
  <property fmtid="{D5CDD505-2E9C-101B-9397-08002B2CF9AE}" pid="4" name="xd_ProgID">
    <vt:lpwstr/>
  </property>
  <property fmtid="{D5CDD505-2E9C-101B-9397-08002B2CF9AE}" pid="5" name="ComplianceAssetId">
    <vt:lpwstr/>
  </property>
  <property fmtid="{D5CDD505-2E9C-101B-9397-08002B2CF9AE}" pid="6" name="TemplateUrl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  <property fmtid="{D5CDD505-2E9C-101B-9397-08002B2CF9AE}" pid="9" name="xd_Signature">
    <vt:bool>false</vt:bool>
  </property>
</Properties>
</file>